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5" r:id="rId5"/>
    <p:sldId id="259" r:id="rId6"/>
    <p:sldId id="262" r:id="rId7"/>
    <p:sldId id="264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7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7831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D58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01 · ACCESSIBILITÀ DIGITALE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17142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</a:t>
            </a:r>
            <a:r>
              <a:rPr lang="en-US" sz="48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tua</a:t>
            </a: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</a:t>
            </a: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digitale</a:t>
            </a: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 </a:t>
            </a:r>
            <a:r>
              <a:rPr lang="en-US" sz="48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permesso</a:t>
            </a: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 </a:t>
            </a:r>
            <a:r>
              <a:rPr lang="en-US" sz="48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soggiorno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576849"/>
            <a:ext cx="7909560" cy="678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senza </a:t>
            </a:r>
            <a:r>
              <a:rPr lang="en-US" sz="3200" b="1" dirty="0" err="1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errori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176445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nella</a:t>
            </a: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tua</a:t>
            </a: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lingua</a:t>
            </a:r>
            <a:endParaRPr lang="en-US" sz="3200" dirty="0"/>
          </a:p>
        </p:txBody>
      </p:sp>
      <p:pic>
        <p:nvPicPr>
          <p:cNvPr id="8" name="Image 0" descr="/private/tmp/claude-501/pitch-icons/icon-person-d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371600"/>
            <a:ext cx="3200400" cy="3200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02952" y="6446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2024</a:t>
            </a:r>
            <a:endParaRPr lang="en-US" sz="10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F49841C-6E2C-429C-DA89-8B788221B3F3}"/>
              </a:ext>
            </a:extLst>
          </p:cNvPr>
          <p:cNvSpPr txBox="1"/>
          <p:nvPr/>
        </p:nvSpPr>
        <p:spPr>
          <a:xfrm>
            <a:off x="502920" y="3623182"/>
            <a:ext cx="7909560" cy="873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Compila</a:t>
            </a:r>
            <a:r>
              <a:rPr lang="en-US" sz="3200" b="1" dirty="0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il kit </a:t>
            </a:r>
            <a:r>
              <a:rPr lang="en-US" sz="3200" b="1" dirty="0" err="1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postale</a:t>
            </a:r>
            <a:r>
              <a:rPr lang="en-US" sz="3200" b="1" dirty="0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b="1" dirty="0" err="1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</a:t>
            </a:r>
            <a:r>
              <a:rPr lang="en-US" sz="3200" b="1" dirty="0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dopo </a:t>
            </a:r>
            <a:r>
              <a:rPr lang="en-US" sz="3200" b="1" dirty="0" err="1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858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 caselle, e le istruzioni sono su un altro foglio.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943600" cy="36576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1920240" cy="21945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76200" dist="38100" dir="2700000" algn="bl" rotWithShape="0">
              <a:srgbClr val="CCCCCC">
                <a:alpha val="3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</a:t>
            </a:r>
            <a:endParaRPr lang="en-US" sz="5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17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Caselle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MOD. 209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6118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Modulo 2 se hai reddito: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altre 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06040" y="2103120"/>
            <a:ext cx="1920240" cy="2194560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  <a:effectLst>
            <a:outerShdw blurRad="76200" dist="38100" dir="2700000" algn="bl" rotWithShape="0">
              <a:srgbClr val="CCCCCC">
                <a:alpha val="3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 txBox="1"/>
          <p:nvPr/>
        </p:nvSpPr>
        <p:spPr>
          <a:xfrm>
            <a:off x="2743200" y="22860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52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017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Giorni lavorativi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presentare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36118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0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scritto sul kit.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0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art. 5 c.2 D.lgs 286/98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2103120"/>
            <a:ext cx="1920240" cy="21945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76200" dist="38100" dir="2700000" algn="bl" rotWithShape="0">
              <a:srgbClr val="CCCCCC">
                <a:alpha val="3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 txBox="1"/>
          <p:nvPr/>
        </p:nvSpPr>
        <p:spPr>
          <a:xfrm>
            <a:off x="4846320" y="22860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2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017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Avvisi automatici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sulle scadenze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6118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Nessuna notifica.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 promemoria.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46177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«Il </a:t>
            </a:r>
            <a:r>
              <a:rPr lang="en-US" sz="1300" i="1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patronato</a:t>
            </a: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00" i="1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</a:t>
            </a: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00" i="1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aiuta</a:t>
            </a: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00" i="1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nella</a:t>
            </a: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00" i="1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compilazione</a:t>
            </a: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ma su appuntamento.»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25669" y="4297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postale MOD. 209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6537960"/>
            <a:ext cx="7313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2024 Hackathon — Kit Postale AI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1411712" y="65379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pic>
        <p:nvPicPr>
          <p:cNvPr id="22" name="Picture 21" descr="img-modulo-209.png">
            <a:extLst>
              <a:ext uri="{FF2B5EF4-FFF2-40B4-BE49-F238E27FC236}">
                <a16:creationId xmlns:a16="http://schemas.microsoft.com/office/drawing/2014/main" id="{D095F38B-074A-C9A5-EDF3-81C3A5A869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902"/>
          <a:stretch>
            <a:fillRect/>
          </a:stretch>
        </p:blipFill>
        <p:spPr>
          <a:xfrm>
            <a:off x="7174391" y="988144"/>
            <a:ext cx="4823138" cy="1684163"/>
          </a:xfrm>
          <a:prstGeom prst="rect">
            <a:avLst/>
          </a:prstGeom>
        </p:spPr>
      </p:pic>
      <p:pic>
        <p:nvPicPr>
          <p:cNvPr id="23" name="Picture 22" descr="img-modulo-209.png">
            <a:extLst>
              <a:ext uri="{FF2B5EF4-FFF2-40B4-BE49-F238E27FC236}">
                <a16:creationId xmlns:a16="http://schemas.microsoft.com/office/drawing/2014/main" id="{48D04BBE-C0C4-9FAB-3E5F-B03D8C07F5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23"/>
          <a:stretch>
            <a:fillRect/>
          </a:stretch>
        </p:blipFill>
        <p:spPr>
          <a:xfrm>
            <a:off x="7174391" y="2802932"/>
            <a:ext cx="4811517" cy="16841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L'IDEA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stesso kit postale, una domanda alla volta,</a:t>
            </a:r>
            <a:endParaRPr lang="en-US" sz="2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controllato mentre si scrive.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168415" cy="3840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OGGI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modulo cartaceo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 caselle, le istruzioni su un foglio a parte.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20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</a:t>
            </a: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errori si scoprono quando la Questura chiede un'integrazione.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51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Il </a:t>
            </a:r>
            <a:r>
              <a:rPr lang="en-US" sz="1200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patronato</a:t>
            </a: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aiuta</a:t>
            </a: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 </a:t>
            </a:r>
            <a:r>
              <a:rPr lang="en-US" sz="1200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compilazione</a:t>
            </a: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ma su appuntamento.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7408" y="1783080"/>
            <a:ext cx="5228313" cy="3840480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6468404" y="1965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58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68404" y="229057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guidato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8404" y="277520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Una domanda alla volta, spiegata, con l'esempio accanto.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82069" y="349629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Gli errori si vedono subito, con scritto cosa fare.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68404" y="4251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Alle 23, dal telefono,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nella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tua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lingua.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18082" y="3474720"/>
            <a:ext cx="512578" cy="457200"/>
          </a:xfrm>
          <a:prstGeom prst="rightArrow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 txBox="1"/>
          <p:nvPr/>
        </p:nvSpPr>
        <p:spPr>
          <a:xfrm>
            <a:off x="502920" y="6537960"/>
            <a:ext cx="7313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2024 Hackathon — Kit Postale AI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11411712" y="65379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937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BENEFICI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75488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</a:t>
            </a: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8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usarlo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3520440" cy="19202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3520440" cy="64008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667512" y="1993392"/>
            <a:ext cx="475488" cy="475488"/>
          </a:xfrm>
          <a:prstGeom prst="ellipse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 txBox="1"/>
          <p:nvPr/>
        </p:nvSpPr>
        <p:spPr>
          <a:xfrm>
            <a:off x="1252728" y="199339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Disponibile 24/7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2542032"/>
            <a:ext cx="31912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23, dal telefono, </a:t>
            </a:r>
            <a:r>
              <a:rPr lang="en-US" sz="1100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nella</a:t>
            </a: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tua</a:t>
            </a: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lingua. Nessun orario, nessun appuntamento.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1828800"/>
            <a:ext cx="3520440" cy="19202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4206240" y="1828800"/>
            <a:ext cx="3520440" cy="64008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9"/>
          <p:cNvSpPr/>
          <p:nvPr/>
        </p:nvSpPr>
        <p:spPr>
          <a:xfrm>
            <a:off x="4370832" y="1993392"/>
            <a:ext cx="475488" cy="475488"/>
          </a:xfrm>
          <a:prstGeom prst="ellipse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 txBox="1"/>
          <p:nvPr/>
        </p:nvSpPr>
        <p:spPr>
          <a:xfrm>
            <a:off x="4956048" y="199339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lingue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70832" y="2542032"/>
            <a:ext cx="31912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Tradotto a priori, </a:t>
            </a:r>
            <a:r>
              <a:rPr lang="en-US" sz="1100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nella</a:t>
            </a: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lingua di cui </a:t>
            </a:r>
            <a:r>
              <a:rPr lang="en-US" sz="1100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</a:t>
            </a: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bisogno</a:t>
            </a: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09560" y="1828800"/>
            <a:ext cx="3520440" cy="19202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3"/>
          <p:cNvSpPr/>
          <p:nvPr/>
        </p:nvSpPr>
        <p:spPr>
          <a:xfrm>
            <a:off x="7909560" y="1828800"/>
            <a:ext cx="3520440" cy="64008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4"/>
          <p:cNvSpPr/>
          <p:nvPr/>
        </p:nvSpPr>
        <p:spPr>
          <a:xfrm>
            <a:off x="8074152" y="1993392"/>
            <a:ext cx="475488" cy="475488"/>
          </a:xfrm>
          <a:prstGeom prst="ellipse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 txBox="1"/>
          <p:nvPr/>
        </p:nvSpPr>
        <p:spPr>
          <a:xfrm>
            <a:off x="8659368" y="199339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domanda alla volta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074152" y="2542032"/>
            <a:ext cx="31912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Percorso guidato con esempi accanto a ogni campo. Nessun campo lasciato solo.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3520440" cy="19202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3520440" cy="64008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9"/>
          <p:cNvSpPr/>
          <p:nvPr/>
        </p:nvSpPr>
        <p:spPr>
          <a:xfrm>
            <a:off x="667512" y="4096512"/>
            <a:ext cx="475488" cy="475488"/>
          </a:xfrm>
          <a:prstGeom prst="ellipse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20"/>
          <p:cNvSpPr txBox="1"/>
          <p:nvPr/>
        </p:nvSpPr>
        <p:spPr>
          <a:xfrm>
            <a:off x="1252728" y="40965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Validazione immediata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" y="4645152"/>
            <a:ext cx="31912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errori si vedono mentre si scrive. Non quando la Questura lo rispedisce indietro.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06240" y="3931920"/>
            <a:ext cx="3520440" cy="19202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3"/>
          <p:cNvSpPr/>
          <p:nvPr/>
        </p:nvSpPr>
        <p:spPr>
          <a:xfrm>
            <a:off x="4206240" y="3931920"/>
            <a:ext cx="3520440" cy="64008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4"/>
          <p:cNvSpPr/>
          <p:nvPr/>
        </p:nvSpPr>
        <p:spPr>
          <a:xfrm>
            <a:off x="4370832" y="4096512"/>
            <a:ext cx="475488" cy="475488"/>
          </a:xfrm>
          <a:prstGeom prst="ellipse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 txBox="1"/>
          <p:nvPr/>
        </p:nvSpPr>
        <p:spPr>
          <a:xfrm>
            <a:off x="4956048" y="40965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 </a:t>
            </a:r>
            <a:r>
              <a:rPr lang="en-US" sz="13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privati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70832" y="4645152"/>
            <a:ext cx="31912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Nessuna registrazione. Nessun dato caricato in cloud. Tutto rimane sul telefono.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09560" y="3931920"/>
            <a:ext cx="3520440" cy="19202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Shape 28"/>
          <p:cNvSpPr/>
          <p:nvPr/>
        </p:nvSpPr>
        <p:spPr>
          <a:xfrm>
            <a:off x="7909560" y="3931920"/>
            <a:ext cx="3520440" cy="64008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1" name="Shape 29"/>
          <p:cNvSpPr/>
          <p:nvPr/>
        </p:nvSpPr>
        <p:spPr>
          <a:xfrm>
            <a:off x="8074152" y="4096512"/>
            <a:ext cx="475488" cy="475488"/>
          </a:xfrm>
          <a:prstGeom prst="ellipse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30"/>
          <p:cNvSpPr txBox="1"/>
          <p:nvPr/>
        </p:nvSpPr>
        <p:spPr>
          <a:xfrm>
            <a:off x="8659368" y="40965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Completamente gratuito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074152" y="4645152"/>
            <a:ext cx="31912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costi, zero abbonamenti. Come dovrebbe essere un servizio di pubblica utilità.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6537960"/>
            <a:ext cx="7313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2024 Hackathon — Kit Postale AI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1411712" y="65379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D58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L'ABBIAMO COSTRUITO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L'AI ha costruito lo strumento.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gira dentro.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1488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D58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software non c'è nessuna chiamata a un modello.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3474720" cy="2743200"/>
          </a:xfrm>
          <a:prstGeom prst="rect">
            <a:avLst/>
          </a:prstGeom>
          <a:solidFill>
            <a:srgbClr val="23232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502920" y="2834640"/>
            <a:ext cx="3474720" cy="73152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 txBox="1"/>
          <p:nvPr/>
        </p:nvSpPr>
        <p:spPr>
          <a:xfrm>
            <a:off x="685800" y="2971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campo del MOD. 209 ha </a:t>
            </a:r>
            <a:r>
              <a:rPr lang="en-US" sz="1200" dirty="0" err="1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regole</a:t>
            </a: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precise, </a:t>
            </a:r>
            <a:r>
              <a:rPr lang="en-US" sz="1200" dirty="0" err="1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verificate</a:t>
            </a: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 </a:t>
            </a:r>
            <a:r>
              <a:rPr lang="en-US" sz="1200" dirty="0" err="1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</a:t>
            </a: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aggiornati</a:t>
            </a: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direttamente</a:t>
            </a: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dall’AI</a:t>
            </a: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r>
              <a:rPr lang="en-US" sz="1200" dirty="0" err="1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Nessuna</a:t>
            </a: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ambiguità</a:t>
            </a: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2834640"/>
            <a:ext cx="3474720" cy="2743200"/>
          </a:xfrm>
          <a:prstGeom prst="rect">
            <a:avLst/>
          </a:prstGeom>
          <a:solidFill>
            <a:srgbClr val="23232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4251960" y="2834640"/>
            <a:ext cx="3474720" cy="73152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4434840" y="2971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Validazione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tempo reale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370332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L'app controlla formato, range, obbligatorietà mentre si scrive — prima di arrivare in posta.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01000" y="2834640"/>
            <a:ext cx="3474720" cy="2743200"/>
          </a:xfrm>
          <a:prstGeom prst="rect">
            <a:avLst/>
          </a:prstGeom>
          <a:solidFill>
            <a:srgbClr val="23232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2"/>
          <p:cNvSpPr/>
          <p:nvPr/>
        </p:nvSpPr>
        <p:spPr>
          <a:xfrm>
            <a:off x="8001000" y="2834640"/>
            <a:ext cx="3474720" cy="73152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 txBox="1"/>
          <p:nvPr/>
        </p:nvSpPr>
        <p:spPr>
          <a:xfrm>
            <a:off x="8183880" y="2971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Multilingua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senza 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83880" y="370332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 tradotti a priori in 6 lingue. Nessuna traduzione automatica in produzione.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537960"/>
            <a:ext cx="7313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2024 Hackathon — Kit Postale AI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442192" y="65379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CONTESTO · PERCHÉ NON L'HA GIÀ FATTO NESSUNO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c'è già, e cosa non copre.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66160" cy="4114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Stato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ELI2 compila il MOD. 209 e lo inoltra a Poste, ma è un software per operatori di patronati e Comuni. Il portale del nulla osta richiede SPID.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4937760"/>
            <a:ext cx="3200400" cy="548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 txBox="1"/>
          <p:nvPr/>
        </p:nvSpPr>
        <p:spPr>
          <a:xfrm>
            <a:off x="777240" y="4983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 Solo per operatori istituzionali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15968" y="1554480"/>
            <a:ext cx="3566160" cy="4114800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 txBox="1"/>
          <p:nvPr/>
        </p:nvSpPr>
        <p:spPr>
          <a:xfrm>
            <a:off x="4498848" y="1737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Patronati e CAF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228600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Assistenza gratuita e istituzionale, da protocollo col Ministero. È il vero riferimento di oggi: ma su appuntamento, con le code.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98848" y="4937760"/>
            <a:ext cx="3200400" cy="548640"/>
          </a:xfrm>
          <a:prstGeom prst="rect">
            <a:avLst/>
          </a:prstGeom>
          <a:solidFill>
            <a:srgbClr val="7500C0"/>
          </a:solidFill>
          <a:ln w="12700">
            <a:solidFill>
              <a:srgbClr val="7500C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 txBox="1"/>
          <p:nvPr/>
        </p:nvSpPr>
        <p:spPr>
          <a:xfrm>
            <a:off x="4590288" y="4983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 Su appuntamento · code · orari fissi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29016" y="1554480"/>
            <a:ext cx="3566160" cy="41148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 txBox="1"/>
          <p:nvPr/>
        </p:nvSpPr>
        <p:spPr>
          <a:xfrm>
            <a:off x="8311896" y="1737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esistenti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228600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della pratica, spiegazione dei documenti, tredici lingue. Guardano la pratica dopo l'invio: non compilano il modulo.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311896" y="4937760"/>
            <a:ext cx="3200400" cy="5486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 txBox="1"/>
          <p:nvPr/>
        </p:nvSpPr>
        <p:spPr>
          <a:xfrm>
            <a:off x="8403336" y="4983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 Non producono il kit compilato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5806440"/>
            <a:ext cx="11155680" cy="45720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8"/>
          <p:cNvSpPr txBox="1"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vuoto: nessun percorso self-service che produca il kit compilato e validato.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537960"/>
            <a:ext cx="7313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2024 Hackathon — Kit Postale AI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411712" y="65379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A100FF"/>
          </a:solidFill>
          <a:ln w="127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pic>
        <p:nvPicPr>
          <p:cNvPr id="3" name="Image 0" descr="/private/tmp/claude-501/pitch-icons/icon-com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137160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14630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Grazie.</a:t>
            </a:r>
            <a:endParaRPr lang="en-US" sz="72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2926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1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 il percorso, dal vivo.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6118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software che trasforma 173 caselle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una conversazione, una domanda alla volta.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902952" y="6446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2024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594</Words>
  <Application>Microsoft Macintosh PowerPoint</Application>
  <PresentationFormat>Widescreen</PresentationFormat>
  <Paragraphs>99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v.truncellito</cp:lastModifiedBy>
  <cp:revision>5</cp:revision>
  <dcterms:created xsi:type="dcterms:W3CDTF">2026-09-22T12:14:58Z</dcterms:created>
  <dcterms:modified xsi:type="dcterms:W3CDTF">2026-09-22T12:57:40Z</dcterms:modified>
</cp:coreProperties>
</file>